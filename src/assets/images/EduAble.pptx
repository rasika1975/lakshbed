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83887D-FA6D-4CF7-8CA2-97A1CF7DBA05}" v="2" dt="2025-11-09T17:39:30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14" y="1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stha Gupta" userId="bf47f2e830bb328f" providerId="LiveId" clId="{728C43A3-E383-4F1F-A659-F1E44553210B}"/>
    <pc:docChg chg="undo custSel modSld">
      <pc:chgData name="Aastha Gupta" userId="bf47f2e830bb328f" providerId="LiveId" clId="{728C43A3-E383-4F1F-A659-F1E44553210B}" dt="2025-11-09T17:43:02.380" v="46" actId="207"/>
      <pc:docMkLst>
        <pc:docMk/>
      </pc:docMkLst>
      <pc:sldChg chg="addSp delSp modSp mod">
        <pc:chgData name="Aastha Gupta" userId="bf47f2e830bb328f" providerId="LiveId" clId="{728C43A3-E383-4F1F-A659-F1E44553210B}" dt="2025-11-09T17:42:32.358" v="43" actId="207"/>
        <pc:sldMkLst>
          <pc:docMk/>
          <pc:sldMk cId="0" sldId="281"/>
        </pc:sldMkLst>
        <pc:spChg chg="mod">
          <ac:chgData name="Aastha Gupta" userId="bf47f2e830bb328f" providerId="LiveId" clId="{728C43A3-E383-4F1F-A659-F1E44553210B}" dt="2025-11-09T17:39:26.734" v="27" actId="1076"/>
          <ac:spMkLst>
            <pc:docMk/>
            <pc:sldMk cId="0" sldId="281"/>
            <ac:spMk id="14" creationId="{1CF13E86-FB93-CD5A-E6D0-8B49781869D5}"/>
          </ac:spMkLst>
        </pc:spChg>
        <pc:spChg chg="mod">
          <ac:chgData name="Aastha Gupta" userId="bf47f2e830bb328f" providerId="LiveId" clId="{728C43A3-E383-4F1F-A659-F1E44553210B}" dt="2025-11-09T17:39:26.159" v="25" actId="1076"/>
          <ac:spMkLst>
            <pc:docMk/>
            <pc:sldMk cId="0" sldId="281"/>
            <ac:spMk id="16" creationId="{CC9449A0-827E-7FDD-BD23-C3C4289C6E9E}"/>
          </ac:spMkLst>
        </pc:spChg>
        <pc:spChg chg="mod">
          <ac:chgData name="Aastha Gupta" userId="bf47f2e830bb328f" providerId="LiveId" clId="{728C43A3-E383-4F1F-A659-F1E44553210B}" dt="2025-11-09T17:39:26.422" v="26" actId="1076"/>
          <ac:spMkLst>
            <pc:docMk/>
            <pc:sldMk cId="0" sldId="281"/>
            <ac:spMk id="21" creationId="{75615364-8FCA-3A64-B4BF-2C90FF37482D}"/>
          </ac:spMkLst>
        </pc:spChg>
        <pc:spChg chg="add del">
          <ac:chgData name="Aastha Gupta" userId="bf47f2e830bb328f" providerId="LiveId" clId="{728C43A3-E383-4F1F-A659-F1E44553210B}" dt="2025-11-09T17:34:44.858" v="1" actId="11529"/>
          <ac:spMkLst>
            <pc:docMk/>
            <pc:sldMk cId="0" sldId="281"/>
            <ac:spMk id="25" creationId="{3225900A-82A7-5B3A-446E-6FC2B4583FE1}"/>
          </ac:spMkLst>
        </pc:spChg>
        <pc:spChg chg="add del mod">
          <ac:chgData name="Aastha Gupta" userId="bf47f2e830bb328f" providerId="LiveId" clId="{728C43A3-E383-4F1F-A659-F1E44553210B}" dt="2025-11-09T17:36:30.260" v="6" actId="478"/>
          <ac:spMkLst>
            <pc:docMk/>
            <pc:sldMk cId="0" sldId="281"/>
            <ac:spMk id="26" creationId="{4A86DB24-822C-7D22-3BD8-7288B85F9DC6}"/>
          </ac:spMkLst>
        </pc:spChg>
        <pc:spChg chg="add del mod">
          <ac:chgData name="Aastha Gupta" userId="bf47f2e830bb328f" providerId="LiveId" clId="{728C43A3-E383-4F1F-A659-F1E44553210B}" dt="2025-11-09T17:37:39.175" v="9" actId="478"/>
          <ac:spMkLst>
            <pc:docMk/>
            <pc:sldMk cId="0" sldId="281"/>
            <ac:spMk id="27" creationId="{8E166E86-262F-F5F5-B6E5-6297D1649A1E}"/>
          </ac:spMkLst>
        </pc:spChg>
        <pc:spChg chg="add del mod">
          <ac:chgData name="Aastha Gupta" userId="bf47f2e830bb328f" providerId="LiveId" clId="{728C43A3-E383-4F1F-A659-F1E44553210B}" dt="2025-11-09T17:39:27.450" v="29" actId="1076"/>
          <ac:spMkLst>
            <pc:docMk/>
            <pc:sldMk cId="0" sldId="281"/>
            <ac:spMk id="28" creationId="{CAC49D68-EE07-994B-5800-DB52353F5C8F}"/>
          </ac:spMkLst>
        </pc:spChg>
        <pc:spChg chg="add del mod">
          <ac:chgData name="Aastha Gupta" userId="bf47f2e830bb328f" providerId="LiveId" clId="{728C43A3-E383-4F1F-A659-F1E44553210B}" dt="2025-11-09T17:39:28.907" v="32" actId="11529"/>
          <ac:spMkLst>
            <pc:docMk/>
            <pc:sldMk cId="0" sldId="281"/>
            <ac:spMk id="29" creationId="{6815AD4A-61E1-4FDC-0B1C-479598D55F87}"/>
          </ac:spMkLst>
        </pc:spChg>
        <pc:spChg chg="add del mod">
          <ac:chgData name="Aastha Gupta" userId="bf47f2e830bb328f" providerId="LiveId" clId="{728C43A3-E383-4F1F-A659-F1E44553210B}" dt="2025-11-09T17:41:57.810" v="39" actId="478"/>
          <ac:spMkLst>
            <pc:docMk/>
            <pc:sldMk cId="0" sldId="281"/>
            <ac:spMk id="30" creationId="{51519C9E-875C-1387-ED6B-4494576843CD}"/>
          </ac:spMkLst>
        </pc:spChg>
        <pc:spChg chg="add mod">
          <ac:chgData name="Aastha Gupta" userId="bf47f2e830bb328f" providerId="LiveId" clId="{728C43A3-E383-4F1F-A659-F1E44553210B}" dt="2025-11-09T17:42:32.358" v="43" actId="207"/>
          <ac:spMkLst>
            <pc:docMk/>
            <pc:sldMk cId="0" sldId="281"/>
            <ac:spMk id="31" creationId="{66D6A726-10FA-BC7A-27AA-DC468F9CE80C}"/>
          </ac:spMkLst>
        </pc:spChg>
        <pc:picChg chg="mod">
          <ac:chgData name="Aastha Gupta" userId="bf47f2e830bb328f" providerId="LiveId" clId="{728C43A3-E383-4F1F-A659-F1E44553210B}" dt="2025-11-09T17:39:25.920" v="24" actId="1076"/>
          <ac:picMkLst>
            <pc:docMk/>
            <pc:sldMk cId="0" sldId="281"/>
            <ac:picMk id="20" creationId="{80FAC308-A6F4-7880-4F8E-E9BD0172798B}"/>
          </ac:picMkLst>
        </pc:picChg>
      </pc:sldChg>
      <pc:sldChg chg="addSp modSp mod">
        <pc:chgData name="Aastha Gupta" userId="bf47f2e830bb328f" providerId="LiveId" clId="{728C43A3-E383-4F1F-A659-F1E44553210B}" dt="2025-11-09T17:43:02.380" v="46" actId="207"/>
        <pc:sldMkLst>
          <pc:docMk/>
          <pc:sldMk cId="2997144140" sldId="294"/>
        </pc:sldMkLst>
        <pc:spChg chg="add mod">
          <ac:chgData name="Aastha Gupta" userId="bf47f2e830bb328f" providerId="LiveId" clId="{728C43A3-E383-4F1F-A659-F1E44553210B}" dt="2025-11-09T17:43:02.380" v="46" actId="207"/>
          <ac:spMkLst>
            <pc:docMk/>
            <pc:sldMk cId="2997144140" sldId="294"/>
            <ac:spMk id="13" creationId="{6A9028F1-CC8A-EC4B-7B1C-52CA305489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11/9/2025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jpeg"/><Relationship Id="rId5" Type="http://schemas.openxmlformats.org/officeDocument/2006/relationships/hyperlink" Target="https://eduable.onrender.com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creativecommons.org/licenses/by-sa/3.0/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es.wikipedia.org/wiki/YouTube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hyperlink" Target="https://youtu.be/K_-W4Ms0HNQ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link.springer.com/article/10.1007/s11423-022-10127-7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aim.org/standards/wcag/" TargetMode="External"/><Relationship Id="rId5" Type="http://schemas.openxmlformats.org/officeDocument/2006/relationships/hyperlink" Target="https://www.atlassian.com/trust/compliance/resources/wcag" TargetMode="External"/><Relationship Id="rId4" Type="http://schemas.openxmlformats.org/officeDocument/2006/relationships/hyperlink" Target="https://www.who.int/publications/i/item/9789241564182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7550" y="1743003"/>
            <a:ext cx="10363200" cy="795816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HACKNOVA 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0606" y="2538819"/>
            <a:ext cx="11229270" cy="3910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dirty="0"/>
              <a:t>Assistive Technology &amp; Inclusive Education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  <a:r>
              <a:rPr lang="en-US" sz="2400" dirty="0"/>
              <a:t>Empowering Differently Abled Students Through Smart Assistive Technologies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Idea Title- </a:t>
            </a:r>
            <a:r>
              <a:rPr lang="en-US" sz="2400" dirty="0"/>
              <a:t>Empowering Differently Abled Students Through Smart Assistive Technologies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Name- </a:t>
            </a:r>
            <a:r>
              <a:rPr lang="en-IN" sz="2400" dirty="0"/>
              <a:t>TEAM CREATION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1758" y="13575"/>
            <a:ext cx="10006967" cy="18060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636327"/>
            <a:ext cx="12191999" cy="221672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9773" y="-53963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73127" y="653891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0"/>
            <a:ext cx="159600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CREATION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9891" y="0"/>
            <a:ext cx="899582" cy="90225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1077F7-0160-9DF9-6A2D-70B53BCB57D4}"/>
              </a:ext>
            </a:extLst>
          </p:cNvPr>
          <p:cNvSpPr txBox="1"/>
          <p:nvPr/>
        </p:nvSpPr>
        <p:spPr>
          <a:xfrm>
            <a:off x="163516" y="974620"/>
            <a:ext cx="6833027" cy="101566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n-US" sz="2000" b="1" u="sng" dirty="0" err="1">
                <a:solidFill>
                  <a:schemeClr val="tx2">
                    <a:lumMod val="75000"/>
                  </a:schemeClr>
                </a:solidFill>
              </a:rPr>
              <a:t>EduAble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is an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AI-driven assistive learning system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that uses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smart devices and adaptive tools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to make education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accessible, affordable, and personalized</a:t>
            </a:r>
            <a:r>
              <a:rPr lang="en-US" sz="2000" dirty="0">
                <a:solidFill>
                  <a:schemeClr val="tx2">
                    <a:lumMod val="75000"/>
                  </a:schemeClr>
                </a:solidFill>
              </a:rPr>
              <a:t> for differently abled students.”</a:t>
            </a:r>
            <a:endParaRPr lang="en-IN"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485D66-ECD3-7A04-19BB-3967BF34219A}"/>
              </a:ext>
            </a:extLst>
          </p:cNvPr>
          <p:cNvSpPr/>
          <p:nvPr/>
        </p:nvSpPr>
        <p:spPr>
          <a:xfrm>
            <a:off x="163518" y="979162"/>
            <a:ext cx="6833026" cy="1015663"/>
          </a:xfrm>
          <a:prstGeom prst="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DCA222-9F3F-F7B7-6C6F-2143869EC0DA}"/>
              </a:ext>
            </a:extLst>
          </p:cNvPr>
          <p:cNvSpPr txBox="1"/>
          <p:nvPr/>
        </p:nvSpPr>
        <p:spPr>
          <a:xfrm>
            <a:off x="163518" y="2087695"/>
            <a:ext cx="683302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Proposed Solution:-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</a:t>
            </a:r>
            <a:r>
              <a:rPr lang="en-US" b="1" dirty="0"/>
              <a:t>Smart Assistive Learning Ecosystem</a:t>
            </a:r>
            <a:r>
              <a:rPr lang="en-US" dirty="0"/>
              <a:t> combining </a:t>
            </a:r>
            <a:r>
              <a:rPr lang="en-US" b="1" dirty="0"/>
              <a:t>AI, IoT, and adaptive technology</a:t>
            </a:r>
            <a:r>
              <a:rPr lang="en-US" dirty="0"/>
              <a:t> to support differently abled students.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Accessible Platform</a:t>
            </a:r>
            <a:r>
              <a:rPr lang="en-US" dirty="0"/>
              <a:t> with screen readers, speech-to-text, Braille support, and customizable UI for various disabilities.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Smart Devices</a:t>
            </a:r>
            <a:r>
              <a:rPr lang="en-US" dirty="0"/>
              <a:t> like gesture-controlled tools, hearing aids, and haptic feedback systems for interactive learning.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AI-Powered Personalization</a:t>
            </a:r>
            <a:r>
              <a:rPr lang="en-US" dirty="0"/>
              <a:t> that tailors lessons, pace, and content to each student’s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Teacher &amp; Parent Dashboards</a:t>
            </a:r>
            <a:r>
              <a:rPr lang="en-US" dirty="0"/>
              <a:t> for progress tracking, insights, and real-time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Affordable &amp; Localized</a:t>
            </a:r>
            <a:r>
              <a:rPr lang="en-US" dirty="0"/>
              <a:t> using open-source tech, local manufacturing, and multi-language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Aims to make education </a:t>
            </a:r>
            <a:r>
              <a:rPr lang="en-US" b="1" dirty="0"/>
              <a:t>inclusive, adaptive, and affordable</a:t>
            </a:r>
            <a:r>
              <a:rPr lang="en-US" dirty="0"/>
              <a:t>, empowering both students and teachers.</a:t>
            </a:r>
            <a:endParaRPr lang="en-US" b="1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4FF067E-ED28-3335-7421-97A6D464EBF4}"/>
              </a:ext>
            </a:extLst>
          </p:cNvPr>
          <p:cNvSpPr/>
          <p:nvPr/>
        </p:nvSpPr>
        <p:spPr>
          <a:xfrm>
            <a:off x="163518" y="2087695"/>
            <a:ext cx="6833026" cy="4451220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5BCD4EA-CB60-5889-3139-9B843CC18C2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589" t="22258" r="11177" b="8318"/>
          <a:stretch>
            <a:fillRect/>
          </a:stretch>
        </p:blipFill>
        <p:spPr>
          <a:xfrm>
            <a:off x="6996543" y="1372896"/>
            <a:ext cx="5195455" cy="363774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AA2E94E3-DBE9-673D-2BB7-982BDFCE415E}"/>
              </a:ext>
            </a:extLst>
          </p:cNvPr>
          <p:cNvSpPr/>
          <p:nvPr/>
        </p:nvSpPr>
        <p:spPr>
          <a:xfrm>
            <a:off x="7066297" y="974620"/>
            <a:ext cx="5055946" cy="4036248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A84F0DB-E56C-016E-F83F-26A5C85CCA3D}"/>
              </a:ext>
            </a:extLst>
          </p:cNvPr>
          <p:cNvSpPr txBox="1"/>
          <p:nvPr/>
        </p:nvSpPr>
        <p:spPr>
          <a:xfrm>
            <a:off x="6996544" y="918108"/>
            <a:ext cx="4626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Problems to be </a:t>
            </a:r>
            <a:r>
              <a:rPr lang="en-US" sz="2400" b="1" u="sng" dirty="0" err="1"/>
              <a:t>Adressed</a:t>
            </a:r>
            <a:r>
              <a:rPr lang="en-US" sz="2400" b="1" u="sng" dirty="0"/>
              <a:t>:- </a:t>
            </a:r>
            <a:endParaRPr lang="en-IN" sz="2400" b="1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7B1FEE1-DCBC-679D-0AE0-557AD3B0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F13E86-FB93-CD5A-E6D0-8B49781869D5}"/>
              </a:ext>
            </a:extLst>
          </p:cNvPr>
          <p:cNvSpPr txBox="1"/>
          <p:nvPr/>
        </p:nvSpPr>
        <p:spPr>
          <a:xfrm>
            <a:off x="6996543" y="5118497"/>
            <a:ext cx="3768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Deployed prototype of </a:t>
            </a:r>
            <a:r>
              <a:rPr lang="en-IN" b="1" dirty="0" err="1"/>
              <a:t>EduAble</a:t>
            </a:r>
            <a:r>
              <a:rPr lang="en-IN" b="1" dirty="0"/>
              <a:t>:-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C9449A0-827E-7FDD-BD23-C3C4289C6E9E}"/>
              </a:ext>
            </a:extLst>
          </p:cNvPr>
          <p:cNvSpPr txBox="1"/>
          <p:nvPr/>
        </p:nvSpPr>
        <p:spPr>
          <a:xfrm>
            <a:off x="7037762" y="6159136"/>
            <a:ext cx="31225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hlinkClick r:id="rId5"/>
              </a:rPr>
              <a:t>https://eduable.onrender.com/</a:t>
            </a:r>
            <a:endParaRPr lang="en-IN" dirty="0"/>
          </a:p>
        </p:txBody>
      </p:sp>
      <p:pic>
        <p:nvPicPr>
          <p:cNvPr id="20" name="Picture 19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80FAC308-A6F4-7880-4F8E-E9BD017279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4580" y="5118497"/>
            <a:ext cx="1469124" cy="1469124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615364-8FCA-3A64-B4BF-2C90FF37482D}"/>
              </a:ext>
            </a:extLst>
          </p:cNvPr>
          <p:cNvSpPr txBox="1"/>
          <p:nvPr/>
        </p:nvSpPr>
        <p:spPr>
          <a:xfrm>
            <a:off x="7066297" y="5438726"/>
            <a:ext cx="2994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Scan this QR or click the link given below </a:t>
            </a:r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D6A726-10FA-BC7A-27AA-DC468F9CE80C}"/>
              </a:ext>
            </a:extLst>
          </p:cNvPr>
          <p:cNvSpPr/>
          <p:nvPr/>
        </p:nvSpPr>
        <p:spPr>
          <a:xfrm>
            <a:off x="7066297" y="5118497"/>
            <a:ext cx="5055946" cy="140997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632392"/>
            <a:ext cx="12191999" cy="225607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-290918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62632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5809" y="20489"/>
            <a:ext cx="159600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CREATION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5591" y="-46617"/>
            <a:ext cx="986409" cy="9893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EAA14DF-2286-2541-B6B5-35FD2F894D9E}"/>
              </a:ext>
            </a:extLst>
          </p:cNvPr>
          <p:cNvSpPr txBox="1"/>
          <p:nvPr/>
        </p:nvSpPr>
        <p:spPr>
          <a:xfrm>
            <a:off x="135809" y="940708"/>
            <a:ext cx="5821646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Technologies to be Used:-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Frontend:</a:t>
            </a:r>
            <a:r>
              <a:rPr lang="en-IN" dirty="0"/>
              <a:t> React.js, </a:t>
            </a:r>
            <a:r>
              <a:rPr lang="en-IN" dirty="0" err="1"/>
              <a:t>TailwindCSS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Backend:</a:t>
            </a:r>
            <a:r>
              <a:rPr lang="en-US" dirty="0"/>
              <a:t> Node.js, Express.js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MongoDB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AI/ML:</a:t>
            </a:r>
            <a:r>
              <a:rPr lang="en-US" dirty="0"/>
              <a:t> TensorFlow / </a:t>
            </a:r>
            <a:r>
              <a:rPr lang="en-US" dirty="0" err="1"/>
              <a:t>PyTorch</a:t>
            </a:r>
            <a:r>
              <a:rPr lang="en-US" dirty="0"/>
              <a:t> for adaptive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APIs:</a:t>
            </a:r>
            <a:r>
              <a:rPr lang="en-US" dirty="0"/>
              <a:t> Speech-to-text, screen reader, gesture recognition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1939A8-EB19-50BC-0F4A-A110707B40B8}"/>
              </a:ext>
            </a:extLst>
          </p:cNvPr>
          <p:cNvSpPr/>
          <p:nvPr/>
        </p:nvSpPr>
        <p:spPr>
          <a:xfrm>
            <a:off x="135808" y="893130"/>
            <a:ext cx="5710809" cy="20424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0CB80A-3A93-D529-6C3C-17D6C0ADCE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517" b="4986"/>
          <a:stretch>
            <a:fillRect/>
          </a:stretch>
        </p:blipFill>
        <p:spPr>
          <a:xfrm>
            <a:off x="8379" y="3315782"/>
            <a:ext cx="8737600" cy="329870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88C8A8-0EC2-A008-3043-5ECED5F0EC51}"/>
              </a:ext>
            </a:extLst>
          </p:cNvPr>
          <p:cNvSpPr txBox="1"/>
          <p:nvPr/>
        </p:nvSpPr>
        <p:spPr>
          <a:xfrm>
            <a:off x="160777" y="2922650"/>
            <a:ext cx="6517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Methodology and Process of  Implementation:-</a:t>
            </a:r>
            <a:endParaRPr lang="en-IN" sz="2400" b="1" u="sn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42DF68-AD53-0F0B-0557-9870C4CC38C6}"/>
              </a:ext>
            </a:extLst>
          </p:cNvPr>
          <p:cNvSpPr/>
          <p:nvPr/>
        </p:nvSpPr>
        <p:spPr>
          <a:xfrm>
            <a:off x="135808" y="2992529"/>
            <a:ext cx="8496915" cy="3570103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D4F65A0-B9AD-28FA-944A-21956F65B3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28" t="33450" r="4101" b="36767"/>
          <a:stretch>
            <a:fillRect/>
          </a:stretch>
        </p:blipFill>
        <p:spPr>
          <a:xfrm>
            <a:off x="5989945" y="908994"/>
            <a:ext cx="6066246" cy="193909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36B8166-5D2F-D04B-8241-B7EA2E08CD4B}"/>
              </a:ext>
            </a:extLst>
          </p:cNvPr>
          <p:cNvSpPr txBox="1"/>
          <p:nvPr/>
        </p:nvSpPr>
        <p:spPr>
          <a:xfrm>
            <a:off x="5982423" y="962014"/>
            <a:ext cx="36160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Website Flow:-</a:t>
            </a:r>
            <a:endParaRPr lang="en-IN" sz="2400" b="1" u="sng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5397E69-EAA0-2158-011D-1C81536F0691}"/>
              </a:ext>
            </a:extLst>
          </p:cNvPr>
          <p:cNvSpPr/>
          <p:nvPr/>
        </p:nvSpPr>
        <p:spPr>
          <a:xfrm>
            <a:off x="5982423" y="893129"/>
            <a:ext cx="6073768" cy="2042487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C2640B6-A6A0-42B3-5CB8-F9B3D1EFB477}"/>
              </a:ext>
            </a:extLst>
          </p:cNvPr>
          <p:cNvSpPr/>
          <p:nvPr/>
        </p:nvSpPr>
        <p:spPr>
          <a:xfrm>
            <a:off x="8737600" y="2992529"/>
            <a:ext cx="3318591" cy="354922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1068FD2-CE0D-E026-35D9-3DC0E6CD4643}"/>
              </a:ext>
            </a:extLst>
          </p:cNvPr>
          <p:cNvSpPr txBox="1"/>
          <p:nvPr/>
        </p:nvSpPr>
        <p:spPr>
          <a:xfrm>
            <a:off x="8770948" y="2988636"/>
            <a:ext cx="3310212" cy="38010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u="sng" dirty="0">
                <a:solidFill>
                  <a:srgbClr val="FF0000"/>
                </a:solidFill>
              </a:rPr>
              <a:t>AI SenseMate – Smart Multimodal Learning Assistant:</a:t>
            </a:r>
          </a:p>
          <a:p>
            <a:r>
              <a:rPr lang="en-US" sz="1700" u="sng" dirty="0"/>
              <a:t>“An AI-powered tool that adapts to each disability using </a:t>
            </a:r>
            <a:r>
              <a:rPr lang="en-US" sz="1700" b="1" u="sng" dirty="0"/>
              <a:t>voice, gesture, and visual recognition”</a:t>
            </a:r>
            <a:r>
              <a:rPr lang="en-US" sz="1700" u="sng" dirty="0"/>
              <a:t> </a:t>
            </a:r>
            <a:r>
              <a:rPr lang="en-US" sz="1700" dirty="0"/>
              <a:t>— reading aloud for the visually impaired, showing subtitles or sign animations for hearing-impaired, and enabling gesture-based control for physically disabled students. It personalizes learning, making </a:t>
            </a:r>
            <a:r>
              <a:rPr lang="en-US" sz="1700" dirty="0" err="1"/>
              <a:t>EduAble</a:t>
            </a:r>
            <a:r>
              <a:rPr lang="en-US" sz="1700" dirty="0"/>
              <a:t> truly inclusive and interactive.</a:t>
            </a:r>
          </a:p>
          <a:p>
            <a:endParaRPr lang="en-IN" b="1" u="sng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83298"/>
            <a:ext cx="12191999" cy="274701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1224" y="-149213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512214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0" y="80497"/>
            <a:ext cx="163154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CREATION 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9255" y="81193"/>
            <a:ext cx="882744" cy="88536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F5D0377-60AA-FD66-533C-8FC4DB1FD7E1}"/>
              </a:ext>
            </a:extLst>
          </p:cNvPr>
          <p:cNvSpPr/>
          <p:nvPr/>
        </p:nvSpPr>
        <p:spPr>
          <a:xfrm>
            <a:off x="690493" y="966557"/>
            <a:ext cx="3258654" cy="52307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31F7D-8AA3-CC83-E1CC-BD4E2DB56641}"/>
              </a:ext>
            </a:extLst>
          </p:cNvPr>
          <p:cNvSpPr txBox="1"/>
          <p:nvPr/>
        </p:nvSpPr>
        <p:spPr>
          <a:xfrm>
            <a:off x="939523" y="1205701"/>
            <a:ext cx="3009624" cy="466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Technical Feasibility:-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Uses </a:t>
            </a:r>
            <a:r>
              <a:rPr lang="en-IN" b="1" dirty="0"/>
              <a:t>proven technologies</a:t>
            </a:r>
            <a:r>
              <a:rPr lang="en-IN" dirty="0"/>
              <a:t> (React, Node.js, MongoDB, TensorFlow).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AI + IoT integration</a:t>
            </a:r>
            <a:r>
              <a:rPr lang="en-US" dirty="0"/>
              <a:t> achievable with existing APIs and devices.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Cloud hosting</a:t>
            </a:r>
            <a:r>
              <a:rPr lang="en-US" dirty="0"/>
              <a:t> ensures scalability and real-time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Modular design</a:t>
            </a:r>
            <a:r>
              <a:rPr lang="en-US" dirty="0"/>
              <a:t> allows easy addition of new disabilities and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Secure architecture</a:t>
            </a:r>
            <a:r>
              <a:rPr lang="en-US" dirty="0"/>
              <a:t> ensures safe data handling and user privacy</a:t>
            </a:r>
            <a:r>
              <a:rPr lang="en-US" sz="2100" dirty="0"/>
              <a:t>.</a:t>
            </a:r>
            <a:endParaRPr lang="en-IN" sz="2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B9259B-7264-FB63-CA1C-A79C651888BB}"/>
              </a:ext>
            </a:extLst>
          </p:cNvPr>
          <p:cNvSpPr/>
          <p:nvPr/>
        </p:nvSpPr>
        <p:spPr>
          <a:xfrm>
            <a:off x="4265915" y="928716"/>
            <a:ext cx="3258654" cy="52307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AB55A2-FFFF-26D2-DCA1-770F5B28581F}"/>
              </a:ext>
            </a:extLst>
          </p:cNvPr>
          <p:cNvSpPr txBox="1"/>
          <p:nvPr/>
        </p:nvSpPr>
        <p:spPr>
          <a:xfrm>
            <a:off x="4265915" y="1205701"/>
            <a:ext cx="325865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Operational Feasibility:-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User-friendly, adaptive interface</a:t>
            </a:r>
            <a:r>
              <a:rPr lang="en-US" sz="2000" dirty="0"/>
              <a:t> for all types of learners.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Teacher training modules</a:t>
            </a:r>
            <a:r>
              <a:rPr lang="en-US" sz="2000" dirty="0"/>
              <a:t> support smooth adoption.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Works on </a:t>
            </a:r>
            <a:r>
              <a:rPr lang="en-US" sz="2000" b="1" dirty="0"/>
              <a:t>basic computers, tablets, or mobile devices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Low maintenance</a:t>
            </a:r>
            <a:r>
              <a:rPr lang="en-US" sz="2000" dirty="0"/>
              <a:t> with cloud-based updates.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Multi-role dashboards</a:t>
            </a:r>
            <a:r>
              <a:rPr lang="en-US" sz="2000" dirty="0"/>
              <a:t> make management easy for teachers, parents, and admins.</a:t>
            </a:r>
            <a:endParaRPr lang="en-IN" sz="20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E59E77-FC87-E975-66F9-CB16AF9A15AF}"/>
              </a:ext>
            </a:extLst>
          </p:cNvPr>
          <p:cNvSpPr/>
          <p:nvPr/>
        </p:nvSpPr>
        <p:spPr>
          <a:xfrm>
            <a:off x="7926086" y="899195"/>
            <a:ext cx="3258654" cy="523075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3D8F80D-421C-EF59-7F61-D52D3975F897}"/>
              </a:ext>
            </a:extLst>
          </p:cNvPr>
          <p:cNvSpPr txBox="1"/>
          <p:nvPr/>
        </p:nvSpPr>
        <p:spPr>
          <a:xfrm>
            <a:off x="8064543" y="1140970"/>
            <a:ext cx="2981739" cy="4847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Economic Feasibility:-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Open-source tools</a:t>
            </a:r>
            <a:r>
              <a:rPr lang="en-US" sz="1900" dirty="0"/>
              <a:t> and </a:t>
            </a:r>
            <a:r>
              <a:rPr lang="en-US" sz="1900" b="1" dirty="0"/>
              <a:t>local manufacturing</a:t>
            </a:r>
            <a:r>
              <a:rPr lang="en-US" sz="1900" dirty="0"/>
              <a:t> reduce costs.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dirty="0"/>
              <a:t>Needs </a:t>
            </a:r>
            <a:r>
              <a:rPr lang="en-US" sz="1900" b="1" dirty="0"/>
              <a:t>minimal hardware investment</a:t>
            </a:r>
            <a:r>
              <a:rPr lang="en-US" sz="1900" dirty="0"/>
              <a:t> for schools.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Scalable model</a:t>
            </a:r>
            <a:r>
              <a:rPr lang="en-US" sz="1900" dirty="0"/>
              <a:t> fits both small and large institutions.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Long-term cost savings</a:t>
            </a:r>
            <a:r>
              <a:rPr lang="en-US" sz="1900" dirty="0"/>
              <a:t> through reusable devices and software.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900" b="1" dirty="0"/>
              <a:t>Potential partnerships</a:t>
            </a:r>
            <a:r>
              <a:rPr lang="en-US" sz="1900" dirty="0"/>
              <a:t> with NGOs and government schemes for funding.</a:t>
            </a:r>
            <a:endParaRPr lang="en-IN" sz="19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3283"/>
            <a:ext cx="12191999" cy="29471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14483" y="-277516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36561" y="656328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81794" y="168387"/>
            <a:ext cx="1750818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CREATION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722" y="49696"/>
            <a:ext cx="1021278" cy="10243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A3C43A0-0812-3DFD-6C2B-1289CA7BF933}"/>
              </a:ext>
            </a:extLst>
          </p:cNvPr>
          <p:cNvSpPr/>
          <p:nvPr/>
        </p:nvSpPr>
        <p:spPr>
          <a:xfrm>
            <a:off x="75777" y="1156250"/>
            <a:ext cx="6020223" cy="509877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A23ABF7-90D7-BF8C-1D1D-ECA21825CB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399" b="6760"/>
          <a:stretch>
            <a:fillRect/>
          </a:stretch>
        </p:blipFill>
        <p:spPr>
          <a:xfrm>
            <a:off x="6005104" y="1098003"/>
            <a:ext cx="6308034" cy="440297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B813F36-5CE4-D4DE-01CB-BC3A54BB91FA}"/>
              </a:ext>
            </a:extLst>
          </p:cNvPr>
          <p:cNvSpPr/>
          <p:nvPr/>
        </p:nvSpPr>
        <p:spPr>
          <a:xfrm>
            <a:off x="6202018" y="1156251"/>
            <a:ext cx="5914206" cy="430138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56F0F80-54D0-0707-AAD2-AA6DDEE3AEF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440" b="15729"/>
          <a:stretch>
            <a:fillRect/>
          </a:stretch>
        </p:blipFill>
        <p:spPr>
          <a:xfrm>
            <a:off x="-182347" y="1283979"/>
            <a:ext cx="6536470" cy="4922258"/>
          </a:xfrm>
          <a:prstGeom prst="rect">
            <a:avLst/>
          </a:prstGeom>
        </p:spPr>
      </p:pic>
      <p:pic>
        <p:nvPicPr>
          <p:cNvPr id="3" name="Picture 2" descr="A black and grey text&#10;&#10;AI-generated content may be incorrect.">
            <a:extLst>
              <a:ext uri="{FF2B5EF4-FFF2-40B4-BE49-F238E27FC236}">
                <a16:creationId xmlns:a16="http://schemas.microsoft.com/office/drawing/2014/main" id="{C4E2FE83-7450-A2C7-5777-1D6295200E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202018" y="5596934"/>
            <a:ext cx="2435051" cy="5454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29AA852-8F1A-E40B-E6E5-8C9E8A265A70}"/>
              </a:ext>
            </a:extLst>
          </p:cNvPr>
          <p:cNvSpPr txBox="1"/>
          <p:nvPr/>
        </p:nvSpPr>
        <p:spPr>
          <a:xfrm>
            <a:off x="4473702" y="6595225"/>
            <a:ext cx="361522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>
                <a:hlinkClick r:id="rId7" tooltip="https://es.wikipedia.org/wiki/YouTube"/>
              </a:rPr>
              <a:t>This Photo</a:t>
            </a:r>
            <a:r>
              <a:rPr lang="en-IN" sz="900" dirty="0"/>
              <a:t> by Unknown Author is licensed under </a:t>
            </a:r>
            <a:r>
              <a:rPr lang="en-IN" sz="900" dirty="0">
                <a:hlinkClick r:id="rId8" tooltip="https://creativecommons.org/licenses/by-sa/3.0/"/>
              </a:rPr>
              <a:t>CC BY-SA</a:t>
            </a:r>
            <a:endParaRPr lang="en-IN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157249-6DC9-04CE-424C-1EAED08EB63C}"/>
              </a:ext>
            </a:extLst>
          </p:cNvPr>
          <p:cNvSpPr txBox="1"/>
          <p:nvPr/>
        </p:nvSpPr>
        <p:spPr>
          <a:xfrm>
            <a:off x="8743087" y="5464127"/>
            <a:ext cx="40796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  <a:p>
            <a:r>
              <a:rPr lang="en-IN" dirty="0">
                <a:hlinkClick r:id="rId9"/>
              </a:rPr>
              <a:t>https://youtu.be/K_-W4Ms0HNQ</a:t>
            </a:r>
            <a:endParaRPr lang="en-IN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9028F1-CC8A-EC4B-7B1C-52CA305489BA}"/>
              </a:ext>
            </a:extLst>
          </p:cNvPr>
          <p:cNvSpPr/>
          <p:nvPr/>
        </p:nvSpPr>
        <p:spPr>
          <a:xfrm>
            <a:off x="6202018" y="5500977"/>
            <a:ext cx="5914205" cy="7540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52"/>
            <a:ext cx="12191999" cy="29524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-244025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806426" y="6578630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4135" y="46014"/>
            <a:ext cx="1754666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CREATION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7935" y="30286"/>
            <a:ext cx="934064" cy="93683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4B732B-D4C5-AFCE-800A-B2B84CF10413}"/>
              </a:ext>
            </a:extLst>
          </p:cNvPr>
          <p:cNvSpPr txBox="1"/>
          <p:nvPr/>
        </p:nvSpPr>
        <p:spPr>
          <a:xfrm>
            <a:off x="471948" y="1130710"/>
            <a:ext cx="1078598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Key References:-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World Health Organization &amp; World Bank </a:t>
            </a:r>
            <a:r>
              <a:rPr lang="en-US" dirty="0"/>
              <a:t>— </a:t>
            </a:r>
            <a:r>
              <a:rPr lang="en-US" i="1" dirty="0"/>
              <a:t>World Report on Disability (2011)</a:t>
            </a:r>
            <a:r>
              <a:rPr lang="en-US" dirty="0"/>
              <a:t>: Gives global data on disability, education &amp; participation.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Link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>
                <a:hlinkClick r:id="rId4"/>
              </a:rPr>
              <a:t>https://www.who.int/publications/i/item/9789241564182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Web Content Accessibility Guidelines (WCAG) </a:t>
            </a:r>
            <a:r>
              <a:rPr lang="en-US" dirty="0"/>
              <a:t>— Official accessibility standard for websites and digital services. 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</a:rPr>
              <a:t>Link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>
                <a:hlinkClick r:id="rId5"/>
              </a:rPr>
              <a:t>https://www.atlassian.com/trust/compliance/resources/wcag</a:t>
            </a:r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558DF5-9F16-0F8A-2FE8-3A40AE6470FB}"/>
              </a:ext>
            </a:extLst>
          </p:cNvPr>
          <p:cNvSpPr/>
          <p:nvPr/>
        </p:nvSpPr>
        <p:spPr>
          <a:xfrm>
            <a:off x="471948" y="1130710"/>
            <a:ext cx="11248104" cy="169114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DB32EC0-DA2D-6545-9711-1337B23288D5}"/>
              </a:ext>
            </a:extLst>
          </p:cNvPr>
          <p:cNvSpPr txBox="1"/>
          <p:nvPr/>
        </p:nvSpPr>
        <p:spPr>
          <a:xfrm>
            <a:off x="471948" y="2900516"/>
            <a:ext cx="11346426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Recent Research Papers:-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“Assistive technology for the inclusion of students with disabilities: a systematic review” (2022) </a:t>
            </a:r>
            <a:r>
              <a:rPr lang="en-US" dirty="0"/>
              <a:t>— A deep dive into how assistive technologies support inclusion in education and what barriers remain.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“Utilization of Assistive Technology in Special Needs Children’s Learning (Inclusive Education)” (2023) </a:t>
            </a:r>
            <a:r>
              <a:rPr lang="en-US" dirty="0"/>
              <a:t>— Study on teacher readiness &amp; usage of assistive tech in inclusive schools.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“</a:t>
            </a:r>
            <a:r>
              <a:rPr lang="en-US" b="1" dirty="0"/>
              <a:t>AI for Accessible Education: Personalized Audio-Based Learning for Blind Students” (2025) </a:t>
            </a:r>
            <a:r>
              <a:rPr lang="en-US" dirty="0"/>
              <a:t>— Shows how AI &amp; adaptive systems can power assistive learning for visually impaired students.</a:t>
            </a:r>
            <a:endParaRPr lang="en-IN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2D95E7-2C09-F555-1DDB-4AEB7EBC4DBB}"/>
              </a:ext>
            </a:extLst>
          </p:cNvPr>
          <p:cNvSpPr/>
          <p:nvPr/>
        </p:nvSpPr>
        <p:spPr>
          <a:xfrm>
            <a:off x="471948" y="2900516"/>
            <a:ext cx="11248104" cy="219259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34152F-21AB-6306-0A1D-8774F729F0DA}"/>
              </a:ext>
            </a:extLst>
          </p:cNvPr>
          <p:cNvSpPr txBox="1"/>
          <p:nvPr/>
        </p:nvSpPr>
        <p:spPr>
          <a:xfrm>
            <a:off x="471948" y="5137948"/>
            <a:ext cx="11248104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/>
              <a:t>Direct URL Links:-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WHO Report: </a:t>
            </a:r>
            <a:r>
              <a:rPr lang="en-US" dirty="0">
                <a:hlinkClick r:id="rId4"/>
              </a:rPr>
              <a:t>https://www.who.int/publications/i/item/9789241564182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WCAG overview: </a:t>
            </a:r>
            <a:r>
              <a:rPr lang="en-IN" dirty="0">
                <a:hlinkClick r:id="rId6"/>
              </a:rPr>
              <a:t>https://webaim.org/standards/wcag/</a:t>
            </a: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Systematic review article: </a:t>
            </a:r>
            <a:r>
              <a:rPr lang="en-US" dirty="0">
                <a:hlinkClick r:id="rId7"/>
              </a:rPr>
              <a:t>https://link.springer.com/article/10.1007/s11423-022-10127-7</a:t>
            </a:r>
            <a:endParaRPr lang="en-IN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F87477-1D12-B2AA-ED4B-16AFA75FCB06}"/>
              </a:ext>
            </a:extLst>
          </p:cNvPr>
          <p:cNvSpPr/>
          <p:nvPr/>
        </p:nvSpPr>
        <p:spPr>
          <a:xfrm>
            <a:off x="471948" y="5181600"/>
            <a:ext cx="11248104" cy="126737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8064</TotalTime>
  <Words>759</Words>
  <Application>Microsoft Office PowerPoint</Application>
  <PresentationFormat>Widescreen</PresentationFormat>
  <Paragraphs>81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HACKNOVA 2025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Aastha Gupta</cp:lastModifiedBy>
  <cp:revision>159</cp:revision>
  <dcterms:created xsi:type="dcterms:W3CDTF">2013-12-12T18:46:50Z</dcterms:created>
  <dcterms:modified xsi:type="dcterms:W3CDTF">2025-11-09T17:43:04Z</dcterms:modified>
  <cp:category/>
</cp:coreProperties>
</file>